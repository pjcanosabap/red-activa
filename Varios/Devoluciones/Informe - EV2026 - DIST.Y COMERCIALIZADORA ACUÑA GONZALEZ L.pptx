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DB5"/>
              </a:solidFill>
              <a:effectLst/>
            </c:spPr>
          </c:dPt>
          <c:dPt>
            <c:idx val="1"/>
            <c:bubble3D val="0"/>
            <c:spPr>
              <a:solidFill>
                <a:srgbClr val="E8EDF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80.47214584791521</c:v>
                </c:pt>
                <c:pt idx="1">
                  <c:v>19.527854152084785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IFT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9318F"/>
              </a:solidFill>
              <a:effectLst/>
            </c:spPr>
          </c:dPt>
          <c:dPt>
            <c:idx val="1"/>
            <c:bubble3D val="0"/>
            <c:spPr>
              <a:solidFill>
                <a:srgbClr val="E8EDF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53.43750000000001</c:v>
                </c:pt>
                <c:pt idx="1">
                  <c:v>46.56249999999999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7AC20"/>
              </a:solidFill>
              <a:effectLst/>
            </c:spPr>
          </c:dPt>
          <c:dPt>
            <c:idx val="1"/>
            <c:bubble3D val="0"/>
            <c:spPr>
              <a:solidFill>
                <a:srgbClr val="E8EDF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83.47500000000001</c:v>
                </c:pt>
                <c:pt idx="1">
                  <c:v>16.52499999999999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B17E8"/>
              </a:solidFill>
              <a:effectLst/>
            </c:spPr>
          </c:dPt>
          <c:dPt>
            <c:idx val="1"/>
            <c:bubble3D val="0"/>
            <c:spPr>
              <a:solidFill>
                <a:srgbClr val="E8EDF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91.1125</c:v>
                </c:pt>
                <c:pt idx="1">
                  <c:v>8.887500000000003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IDP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EC18"/>
              </a:solidFill>
              <a:effectLst/>
            </c:spPr>
          </c:dPt>
          <c:dPt>
            <c:idx val="1"/>
            <c:bubble3D val="0"/>
            <c:spPr>
              <a:solidFill>
                <a:srgbClr val="E8EDF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/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93.40506949305069</c:v>
                </c:pt>
                <c:pt idx="1">
                  <c:v>6.594930506949311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9184" y="-329184"/>
            <a:ext cx="2715768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92024"/>
            <a:ext cx="2359152" cy="5852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1499616"/>
            <a:ext cx="1170432" cy="107899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3776" y="1728216"/>
            <a:ext cx="1261872" cy="11704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7744" y="2523744"/>
            <a:ext cx="557784" cy="53949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2" y="5148072"/>
            <a:ext cx="1133856" cy="75895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261872" y="1883664"/>
            <a:ext cx="92354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EVALUACIÓN 2026</a:t>
            </a:r>
            <a:endParaRPr lang="en-US" sz="3800" dirty="0"/>
          </a:p>
        </p:txBody>
      </p:sp>
      <p:sp>
        <p:nvSpPr>
          <p:cNvPr id="10" name="Text 1"/>
          <p:cNvSpPr/>
          <p:nvPr/>
        </p:nvSpPr>
        <p:spPr>
          <a:xfrm>
            <a:off x="1993392" y="2999232"/>
            <a:ext cx="80741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DIST.Y COMERCIALIZADORA ACUÑA GONZALEZ L</a:t>
            </a:r>
            <a:endParaRPr lang="en-US" sz="3000" dirty="0"/>
          </a:p>
        </p:txBody>
      </p:sp>
      <p:sp>
        <p:nvSpPr>
          <p:cNvPr id="11" name="Text 2"/>
          <p:cNvSpPr/>
          <p:nvPr/>
        </p:nvSpPr>
        <p:spPr>
          <a:xfrm>
            <a:off x="4169664" y="4224528"/>
            <a:ext cx="35570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29/05/2026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1645920" y="13258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1F3864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960120" y="1545336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1645920" y="2587752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2E4F83"/>
          </a:solidFill>
          <a:ln w="12700">
            <a:solidFill>
              <a:srgbClr val="8DA9DB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960120" y="2807208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645920" y="3849624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9DC3E6"/>
          </a:solidFill>
          <a:ln w="12700">
            <a:solidFill>
              <a:srgbClr val="B3C6E7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1645920" y="5111496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BDD7EE"/>
          </a:solidFill>
          <a:ln w="12700">
            <a:solidFill>
              <a:srgbClr val="B3C6E7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60120" y="5330952"/>
            <a:ext cx="438912" cy="43891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1645920" y="1325880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7B2D0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960120" y="1545336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1645920" y="2587752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9A341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960120" y="2807208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645920" y="3849624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960120" y="4069080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1645920" y="5111496"/>
            <a:ext cx="10058400" cy="868680"/>
          </a:xfrm>
          <a:prstGeom prst="roundRect">
            <a:avLst>
              <a:gd name="adj" fmla="val 736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960120" y="5330952"/>
            <a:ext cx="438912" cy="43891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GENERAL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228600" y="86868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" name="Text 2"/>
          <p:cNvSpPr/>
          <p:nvPr/>
        </p:nvSpPr>
        <p:spPr>
          <a:xfrm>
            <a:off x="8686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80.5%</a:t>
            </a:r>
            <a:endParaRPr lang="en-US" sz="3200" dirty="0"/>
          </a:p>
        </p:txBody>
      </p:sp>
      <p:sp>
        <p:nvSpPr>
          <p:cNvPr id="11" name="Shape 3"/>
          <p:cNvSpPr/>
          <p:nvPr/>
        </p:nvSpPr>
        <p:spPr>
          <a:xfrm>
            <a:off x="457200" y="370332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12" name="Text 4"/>
          <p:cNvSpPr/>
          <p:nvPr/>
        </p:nvSpPr>
        <p:spPr>
          <a:xfrm>
            <a:off x="457200" y="37033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228600" y="4169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4.5% para PROACTIVO</a:t>
            </a:r>
            <a:endParaRPr lang="en-US" sz="1000" dirty="0"/>
          </a:p>
        </p:txBody>
      </p:sp>
      <p:sp>
        <p:nvSpPr>
          <p:cNvPr id="14" name="Shape 6"/>
          <p:cNvSpPr/>
          <p:nvPr/>
        </p:nvSpPr>
        <p:spPr>
          <a:xfrm>
            <a:off x="228600" y="4498848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228600" y="44988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2025: +10.1%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228600" y="4956048"/>
            <a:ext cx="3931920" cy="402336"/>
          </a:xfrm>
          <a:prstGeom prst="roundRect">
            <a:avLst>
              <a:gd name="adj" fmla="val 13636"/>
            </a:avLst>
          </a:prstGeom>
          <a:solidFill>
            <a:srgbClr val="F5F0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228600" y="495604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AE: +10.1%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228600" y="545896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228600" y="54589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Críticos: 8/12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4279392" y="868680"/>
            <a:ext cx="9144" cy="2473452"/>
          </a:xfrm>
          <a:prstGeom prst="line">
            <a:avLst/>
          </a:prstGeom>
          <a:noFill/>
          <a:ln w="15240">
            <a:solidFill>
              <a:srgbClr val="9CA3AF"/>
            </a:solidFill>
            <a:prstDash val="sysDash"/>
          </a:ln>
        </p:spPr>
      </p:sp>
      <p:sp>
        <p:nvSpPr>
          <p:cNvPr id="21" name="Shape 13"/>
          <p:cNvSpPr/>
          <p:nvPr/>
        </p:nvSpPr>
        <p:spPr>
          <a:xfrm>
            <a:off x="4279392" y="3561588"/>
            <a:ext cx="9144" cy="2473452"/>
          </a:xfrm>
          <a:prstGeom prst="line">
            <a:avLst/>
          </a:prstGeom>
          <a:noFill/>
          <a:ln w="15240">
            <a:solidFill>
              <a:srgbClr val="9CA3AF"/>
            </a:solidFill>
            <a:prstDash val="sysDash"/>
          </a:ln>
        </p:spPr>
      </p:sp>
      <p:sp>
        <p:nvSpPr>
          <p:cNvPr id="22" name="Shape 14"/>
          <p:cNvSpPr/>
          <p:nvPr/>
        </p:nvSpPr>
        <p:spPr>
          <a:xfrm>
            <a:off x="4114800" y="868680"/>
            <a:ext cx="164592" cy="9144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4114800" y="6035040"/>
            <a:ext cx="164592" cy="9144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3950208" y="3451860"/>
            <a:ext cx="329184" cy="9144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 rot="16200000">
            <a:off x="3822192" y="3369564"/>
            <a:ext cx="146304" cy="164592"/>
          </a:xfrm>
          <a:prstGeom prst="triangl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graphicFrame>
        <p:nvGraphicFramePr>
          <p:cNvPr id="26" name="Chart 1" descr=""/>
          <p:cNvGraphicFramePr/>
          <p:nvPr/>
        </p:nvGraphicFramePr>
        <p:xfrm>
          <a:off x="4434840" y="868680"/>
          <a:ext cx="3611880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7" name="Text 18"/>
          <p:cNvSpPr/>
          <p:nvPr/>
        </p:nvSpPr>
        <p:spPr>
          <a:xfrm>
            <a:off x="5710428" y="1928652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</a:t>
            </a:r>
            <a:endParaRPr lang="en-US" sz="1800" dirty="0"/>
          </a:p>
        </p:txBody>
      </p:sp>
      <p:sp>
        <p:nvSpPr>
          <p:cNvPr id="28" name="Text 19"/>
          <p:cNvSpPr/>
          <p:nvPr/>
        </p:nvSpPr>
        <p:spPr>
          <a:xfrm>
            <a:off x="4434840" y="31363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 · Infraestructura</a:t>
            </a:r>
            <a:endParaRPr lang="en-US" sz="1100" dirty="0"/>
          </a:p>
        </p:txBody>
      </p:sp>
      <p:graphicFrame>
        <p:nvGraphicFramePr>
          <p:cNvPr id="29" name="Chart 2" descr=""/>
          <p:cNvGraphicFramePr/>
          <p:nvPr/>
        </p:nvGraphicFramePr>
        <p:xfrm>
          <a:off x="8275320" y="868680"/>
          <a:ext cx="3611880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0" name="Text 20"/>
          <p:cNvSpPr/>
          <p:nvPr/>
        </p:nvSpPr>
        <p:spPr>
          <a:xfrm>
            <a:off x="9550908" y="1928652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7A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1800" dirty="0"/>
          </a:p>
        </p:txBody>
      </p:sp>
      <p:sp>
        <p:nvSpPr>
          <p:cNvPr id="31" name="Text 21"/>
          <p:cNvSpPr/>
          <p:nvPr/>
        </p:nvSpPr>
        <p:spPr>
          <a:xfrm>
            <a:off x="8275320" y="31363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A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· Procesos Logísticos</a:t>
            </a:r>
            <a:endParaRPr lang="en-US" sz="110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4434840" y="3456432"/>
          <a:ext cx="3611880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3" name="Text 22"/>
          <p:cNvSpPr/>
          <p:nvPr/>
        </p:nvSpPr>
        <p:spPr>
          <a:xfrm>
            <a:off x="5710428" y="4516404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1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800" dirty="0"/>
          </a:p>
        </p:txBody>
      </p:sp>
      <p:sp>
        <p:nvSpPr>
          <p:cNvPr id="34" name="Text 23"/>
          <p:cNvSpPr/>
          <p:nvPr/>
        </p:nvSpPr>
        <p:spPr>
          <a:xfrm>
            <a:off x="4434840" y="57241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1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· Gestión</a:t>
            </a:r>
            <a:endParaRPr lang="en-US" sz="110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8275320" y="3456432"/>
          <a:ext cx="3611880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6" name="Text 24"/>
          <p:cNvSpPr/>
          <p:nvPr/>
        </p:nvSpPr>
        <p:spPr>
          <a:xfrm>
            <a:off x="9550908" y="4516404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1800" dirty="0"/>
          </a:p>
        </p:txBody>
      </p:sp>
      <p:sp>
        <p:nvSpPr>
          <p:cNvPr id="37" name="Text 25"/>
          <p:cNvSpPr/>
          <p:nvPr/>
        </p:nvSpPr>
        <p:spPr>
          <a:xfrm>
            <a:off x="8275320" y="57241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· Integridad del Producto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ÁREA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274320" y="1156716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19318F"/>
          </a:solidFill>
          <a:ln w="12700">
            <a:solidFill>
              <a:srgbClr val="19318F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365760" y="1156716"/>
            <a:ext cx="37929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11" name="Text 4"/>
          <p:cNvSpPr/>
          <p:nvPr/>
        </p:nvSpPr>
        <p:spPr>
          <a:xfrm>
            <a:off x="3955694" y="1156716"/>
            <a:ext cx="17849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</a:t>
            </a:r>
            <a:endParaRPr lang="en-US" sz="2000" dirty="0"/>
          </a:p>
        </p:txBody>
      </p:sp>
      <p:sp>
        <p:nvSpPr>
          <p:cNvPr id="12" name="Shape 5"/>
          <p:cNvSpPr/>
          <p:nvPr/>
        </p:nvSpPr>
        <p:spPr>
          <a:xfrm>
            <a:off x="274320" y="1504188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347472" y="1504188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EMPLAZAMIENTO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3453689" y="1586484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3453689" y="1586484"/>
            <a:ext cx="413876" cy="18288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127041" y="1504188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274320" y="1851660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47472" y="1851660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EDIFICACION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3453689" y="1933956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3453689" y="1933956"/>
            <a:ext cx="486109" cy="18288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127041" y="1851660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274320" y="2199132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47472" y="219913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453689" y="228142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453689" y="2281428"/>
            <a:ext cx="1421234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127041" y="219913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274320" y="2546604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47472" y="2546604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Y REPARTO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453689" y="2628900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453689" y="2628900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127041" y="2546604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274320" y="2894076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7472" y="2894076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COMUNICACIONES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453689" y="2976372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53689" y="2976372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127041" y="2894076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274320" y="3406140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87AC20"/>
          </a:solidFill>
          <a:ln w="12700">
            <a:solidFill>
              <a:srgbClr val="87AC2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65760" y="3406140"/>
            <a:ext cx="37929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Logísticos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3955694" y="3406140"/>
            <a:ext cx="17849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2000" dirty="0"/>
          </a:p>
        </p:txBody>
      </p:sp>
      <p:sp>
        <p:nvSpPr>
          <p:cNvPr id="40" name="Shape 33"/>
          <p:cNvSpPr/>
          <p:nvPr/>
        </p:nvSpPr>
        <p:spPr>
          <a:xfrm>
            <a:off x="274320" y="3753612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47472" y="375361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 Y RECEPCIÓN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3453689" y="383590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453689" y="3835908"/>
            <a:ext cx="1046403" cy="18288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127041" y="375361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274320" y="4101084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47472" y="4101084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3453689" y="4183380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3453689" y="4183380"/>
            <a:ext cx="1007358" cy="18288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127041" y="4101084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274320" y="4448556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47472" y="4448556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 INVENTARIOS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3453689" y="4530852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3453689" y="4530852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5127041" y="4448556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274320" y="4796028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347472" y="4796028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CONSOLIDADOS Y PEDIDOS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3453689" y="4878324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3453689" y="4878324"/>
            <a:ext cx="1397807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5127041" y="4796028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400" dirty="0"/>
          </a:p>
        </p:txBody>
      </p:sp>
      <p:sp>
        <p:nvSpPr>
          <p:cNvPr id="60" name="Shape 53"/>
          <p:cNvSpPr/>
          <p:nvPr/>
        </p:nvSpPr>
        <p:spPr>
          <a:xfrm>
            <a:off x="274320" y="5143500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347472" y="5143500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Y REPARTO</a:t>
            </a:r>
            <a:endParaRPr lang="en-US" sz="1100" dirty="0"/>
          </a:p>
        </p:txBody>
      </p:sp>
      <p:sp>
        <p:nvSpPr>
          <p:cNvPr id="62" name="Shape 55"/>
          <p:cNvSpPr/>
          <p:nvPr/>
        </p:nvSpPr>
        <p:spPr>
          <a:xfrm>
            <a:off x="3453689" y="5225796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3453689" y="5225796"/>
            <a:ext cx="1444661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5127041" y="5143500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400" dirty="0"/>
          </a:p>
        </p:txBody>
      </p:sp>
      <p:sp>
        <p:nvSpPr>
          <p:cNvPr id="65" name="Shape 58"/>
          <p:cNvSpPr/>
          <p:nvPr/>
        </p:nvSpPr>
        <p:spPr>
          <a:xfrm>
            <a:off x="274320" y="5490972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347472" y="549097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Y/O DEVOLUCIONES</a:t>
            </a:r>
            <a:endParaRPr lang="en-US" sz="1100" dirty="0"/>
          </a:p>
        </p:txBody>
      </p:sp>
      <p:sp>
        <p:nvSpPr>
          <p:cNvPr id="67" name="Shape 60"/>
          <p:cNvSpPr/>
          <p:nvPr/>
        </p:nvSpPr>
        <p:spPr>
          <a:xfrm>
            <a:off x="3453689" y="557326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3453689" y="5573268"/>
            <a:ext cx="1093257" cy="182880"/>
          </a:xfrm>
          <a:prstGeom prst="rect">
            <a:avLst/>
          </a:prstGeom>
          <a:solidFill>
            <a:srgbClr val="2F7DC8"/>
          </a:solidFill>
          <a:ln w="12700">
            <a:solidFill>
              <a:srgbClr val="2F7DC8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5127041" y="549097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7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400" dirty="0"/>
          </a:p>
        </p:txBody>
      </p:sp>
      <p:sp>
        <p:nvSpPr>
          <p:cNvPr id="70" name="Shape 63"/>
          <p:cNvSpPr/>
          <p:nvPr/>
        </p:nvSpPr>
        <p:spPr>
          <a:xfrm>
            <a:off x="6291072" y="1156716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BB17E8"/>
          </a:solidFill>
          <a:ln w="12700">
            <a:solidFill>
              <a:srgbClr val="BB17E8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6382512" y="1156716"/>
            <a:ext cx="37929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00" dirty="0"/>
          </a:p>
        </p:txBody>
      </p:sp>
      <p:sp>
        <p:nvSpPr>
          <p:cNvPr id="72" name="Text 65"/>
          <p:cNvSpPr/>
          <p:nvPr/>
        </p:nvSpPr>
        <p:spPr>
          <a:xfrm>
            <a:off x="9972446" y="1156716"/>
            <a:ext cx="17849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2000" dirty="0"/>
          </a:p>
        </p:txBody>
      </p:sp>
      <p:sp>
        <p:nvSpPr>
          <p:cNvPr id="73" name="Shape 66"/>
          <p:cNvSpPr/>
          <p:nvPr/>
        </p:nvSpPr>
        <p:spPr>
          <a:xfrm>
            <a:off x="6291072" y="1504188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6364224" y="1504188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100" dirty="0"/>
          </a:p>
        </p:txBody>
      </p:sp>
      <p:sp>
        <p:nvSpPr>
          <p:cNvPr id="75" name="Shape 68"/>
          <p:cNvSpPr/>
          <p:nvPr/>
        </p:nvSpPr>
        <p:spPr>
          <a:xfrm>
            <a:off x="9470441" y="1586484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9470441" y="1586484"/>
            <a:ext cx="1409520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11143793" y="1504188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400" dirty="0"/>
          </a:p>
        </p:txBody>
      </p:sp>
      <p:sp>
        <p:nvSpPr>
          <p:cNvPr id="78" name="Shape 71"/>
          <p:cNvSpPr/>
          <p:nvPr/>
        </p:nvSpPr>
        <p:spPr>
          <a:xfrm>
            <a:off x="6291072" y="1851660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6364224" y="1851660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</a:t>
            </a:r>
            <a:endParaRPr lang="en-US" sz="1100" dirty="0"/>
          </a:p>
        </p:txBody>
      </p:sp>
      <p:sp>
        <p:nvSpPr>
          <p:cNvPr id="80" name="Shape 73"/>
          <p:cNvSpPr/>
          <p:nvPr/>
        </p:nvSpPr>
        <p:spPr>
          <a:xfrm>
            <a:off x="9470441" y="1933956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9470441" y="1933956"/>
            <a:ext cx="1421234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11143793" y="1851660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400" dirty="0"/>
          </a:p>
        </p:txBody>
      </p:sp>
      <p:sp>
        <p:nvSpPr>
          <p:cNvPr id="83" name="Shape 76"/>
          <p:cNvSpPr/>
          <p:nvPr/>
        </p:nvSpPr>
        <p:spPr>
          <a:xfrm>
            <a:off x="6291072" y="2199132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84" name="Text 77"/>
          <p:cNvSpPr/>
          <p:nvPr/>
        </p:nvSpPr>
        <p:spPr>
          <a:xfrm>
            <a:off x="6364224" y="219913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Y COMUNICACIONES</a:t>
            </a:r>
            <a:endParaRPr lang="en-US" sz="1100" dirty="0"/>
          </a:p>
        </p:txBody>
      </p:sp>
      <p:sp>
        <p:nvSpPr>
          <p:cNvPr id="85" name="Shape 78"/>
          <p:cNvSpPr/>
          <p:nvPr/>
        </p:nvSpPr>
        <p:spPr>
          <a:xfrm>
            <a:off x="9470441" y="228142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9470441" y="2281428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11143793" y="219913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88" name="Shape 81"/>
          <p:cNvSpPr/>
          <p:nvPr/>
        </p:nvSpPr>
        <p:spPr>
          <a:xfrm>
            <a:off x="6291072" y="2546604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6364224" y="2546604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FORMACION Y DESARROLLO</a:t>
            </a:r>
            <a:endParaRPr lang="en-US" sz="1100" dirty="0"/>
          </a:p>
        </p:txBody>
      </p:sp>
      <p:sp>
        <p:nvSpPr>
          <p:cNvPr id="90" name="Shape 83"/>
          <p:cNvSpPr/>
          <p:nvPr/>
        </p:nvSpPr>
        <p:spPr>
          <a:xfrm>
            <a:off x="9470441" y="2628900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9470441" y="2628900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92" name="Text 85"/>
          <p:cNvSpPr/>
          <p:nvPr/>
        </p:nvSpPr>
        <p:spPr>
          <a:xfrm>
            <a:off x="11143793" y="2546604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93" name="Shape 86"/>
          <p:cNvSpPr/>
          <p:nvPr/>
        </p:nvSpPr>
        <p:spPr>
          <a:xfrm>
            <a:off x="6291072" y="2894076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6364224" y="2894076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 Y MEJORA</a:t>
            </a:r>
            <a:endParaRPr lang="en-US" sz="1100" dirty="0"/>
          </a:p>
        </p:txBody>
      </p:sp>
      <p:sp>
        <p:nvSpPr>
          <p:cNvPr id="95" name="Shape 88"/>
          <p:cNvSpPr/>
          <p:nvPr/>
        </p:nvSpPr>
        <p:spPr>
          <a:xfrm>
            <a:off x="9470441" y="2976372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9470441" y="2976372"/>
            <a:ext cx="1343144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97" name="Text 90"/>
          <p:cNvSpPr/>
          <p:nvPr/>
        </p:nvSpPr>
        <p:spPr>
          <a:xfrm>
            <a:off x="11143793" y="2894076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400" dirty="0"/>
          </a:p>
        </p:txBody>
      </p:sp>
      <p:sp>
        <p:nvSpPr>
          <p:cNvPr id="98" name="Shape 91"/>
          <p:cNvSpPr/>
          <p:nvPr/>
        </p:nvSpPr>
        <p:spPr>
          <a:xfrm>
            <a:off x="6291072" y="3406140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E9EC18"/>
          </a:solidFill>
          <a:ln w="12700">
            <a:solidFill>
              <a:srgbClr val="E9EC18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6382512" y="3406140"/>
            <a:ext cx="37929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del Producto</a:t>
            </a:r>
            <a:endParaRPr lang="en-US" sz="1400" dirty="0"/>
          </a:p>
        </p:txBody>
      </p:sp>
      <p:sp>
        <p:nvSpPr>
          <p:cNvPr id="100" name="Text 93"/>
          <p:cNvSpPr/>
          <p:nvPr/>
        </p:nvSpPr>
        <p:spPr>
          <a:xfrm>
            <a:off x="9972446" y="3406140"/>
            <a:ext cx="178490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2000" dirty="0"/>
          </a:p>
        </p:txBody>
      </p:sp>
      <p:sp>
        <p:nvSpPr>
          <p:cNvPr id="101" name="Shape 94"/>
          <p:cNvSpPr/>
          <p:nvPr/>
        </p:nvSpPr>
        <p:spPr>
          <a:xfrm>
            <a:off x="6291072" y="3753612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02" name="Text 95"/>
          <p:cNvSpPr/>
          <p:nvPr/>
        </p:nvSpPr>
        <p:spPr>
          <a:xfrm>
            <a:off x="6364224" y="375361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 Y RECEPCIÓN</a:t>
            </a:r>
            <a:endParaRPr lang="en-US" sz="1100" dirty="0"/>
          </a:p>
        </p:txBody>
      </p:sp>
      <p:sp>
        <p:nvSpPr>
          <p:cNvPr id="103" name="Shape 96"/>
          <p:cNvSpPr/>
          <p:nvPr/>
        </p:nvSpPr>
        <p:spPr>
          <a:xfrm>
            <a:off x="9470441" y="383590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9470441" y="3835908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05" name="Text 98"/>
          <p:cNvSpPr/>
          <p:nvPr/>
        </p:nvSpPr>
        <p:spPr>
          <a:xfrm>
            <a:off x="11143793" y="375361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06" name="Shape 99"/>
          <p:cNvSpPr/>
          <p:nvPr/>
        </p:nvSpPr>
        <p:spPr>
          <a:xfrm>
            <a:off x="6291072" y="4101084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6364224" y="4101084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108" name="Shape 101"/>
          <p:cNvSpPr/>
          <p:nvPr/>
        </p:nvSpPr>
        <p:spPr>
          <a:xfrm>
            <a:off x="9470441" y="4183380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9470441" y="4183380"/>
            <a:ext cx="1518382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10" name="Text 103"/>
          <p:cNvSpPr/>
          <p:nvPr/>
        </p:nvSpPr>
        <p:spPr>
          <a:xfrm>
            <a:off x="11143793" y="4101084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400" dirty="0"/>
          </a:p>
        </p:txBody>
      </p:sp>
      <p:sp>
        <p:nvSpPr>
          <p:cNvPr id="111" name="Shape 104"/>
          <p:cNvSpPr/>
          <p:nvPr/>
        </p:nvSpPr>
        <p:spPr>
          <a:xfrm>
            <a:off x="6291072" y="4448556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12" name="Text 105"/>
          <p:cNvSpPr/>
          <p:nvPr/>
        </p:nvSpPr>
        <p:spPr>
          <a:xfrm>
            <a:off x="6364224" y="4448556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Y REPARTO</a:t>
            </a:r>
            <a:endParaRPr lang="en-US" sz="1100" dirty="0"/>
          </a:p>
        </p:txBody>
      </p:sp>
      <p:sp>
        <p:nvSpPr>
          <p:cNvPr id="113" name="Shape 106"/>
          <p:cNvSpPr/>
          <p:nvPr/>
        </p:nvSpPr>
        <p:spPr>
          <a:xfrm>
            <a:off x="9470441" y="4530852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9470441" y="4530852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15" name="Text 108"/>
          <p:cNvSpPr/>
          <p:nvPr/>
        </p:nvSpPr>
        <p:spPr>
          <a:xfrm>
            <a:off x="11143793" y="4448556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16" name="Shape 109"/>
          <p:cNvSpPr/>
          <p:nvPr/>
        </p:nvSpPr>
        <p:spPr>
          <a:xfrm>
            <a:off x="6291072" y="4796028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6364224" y="4796028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Y/O DEVOLUCIONES</a:t>
            </a:r>
            <a:endParaRPr lang="en-US" sz="1100" dirty="0"/>
          </a:p>
        </p:txBody>
      </p:sp>
      <p:sp>
        <p:nvSpPr>
          <p:cNvPr id="118" name="Shape 111"/>
          <p:cNvSpPr/>
          <p:nvPr/>
        </p:nvSpPr>
        <p:spPr>
          <a:xfrm>
            <a:off x="9470441" y="4878324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9470441" y="4878324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20" name="Text 113"/>
          <p:cNvSpPr/>
          <p:nvPr/>
        </p:nvSpPr>
        <p:spPr>
          <a:xfrm>
            <a:off x="11143793" y="4796028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21" name="Shape 114"/>
          <p:cNvSpPr/>
          <p:nvPr/>
        </p:nvSpPr>
        <p:spPr>
          <a:xfrm>
            <a:off x="6291072" y="5143500"/>
            <a:ext cx="5577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22" name="Text 115"/>
          <p:cNvSpPr/>
          <p:nvPr/>
        </p:nvSpPr>
        <p:spPr>
          <a:xfrm>
            <a:off x="6364224" y="5143500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</p:txBody>
      </p:sp>
      <p:sp>
        <p:nvSpPr>
          <p:cNvPr id="123" name="Shape 116"/>
          <p:cNvSpPr/>
          <p:nvPr/>
        </p:nvSpPr>
        <p:spPr>
          <a:xfrm>
            <a:off x="9470441" y="5225796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9470441" y="5225796"/>
            <a:ext cx="640336" cy="18288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25" name="Text 118"/>
          <p:cNvSpPr/>
          <p:nvPr/>
        </p:nvSpPr>
        <p:spPr>
          <a:xfrm>
            <a:off x="11143793" y="5143500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400" dirty="0"/>
          </a:p>
        </p:txBody>
      </p:sp>
      <p:sp>
        <p:nvSpPr>
          <p:cNvPr id="126" name="Shape 119"/>
          <p:cNvSpPr/>
          <p:nvPr/>
        </p:nvSpPr>
        <p:spPr>
          <a:xfrm>
            <a:off x="6291072" y="5490972"/>
            <a:ext cx="55778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127" name="Text 120"/>
          <p:cNvSpPr/>
          <p:nvPr/>
        </p:nvSpPr>
        <p:spPr>
          <a:xfrm>
            <a:off x="6364224" y="5490972"/>
            <a:ext cx="30678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INTEGRADO DE PLAGAS</a:t>
            </a:r>
            <a:endParaRPr lang="en-US" sz="1100" dirty="0"/>
          </a:p>
        </p:txBody>
      </p:sp>
      <p:sp>
        <p:nvSpPr>
          <p:cNvPr id="128" name="Shape 121"/>
          <p:cNvSpPr/>
          <p:nvPr/>
        </p:nvSpPr>
        <p:spPr>
          <a:xfrm>
            <a:off x="9470441" y="5573268"/>
            <a:ext cx="1561795" cy="18288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>
            <a:off x="9470441" y="5573268"/>
            <a:ext cx="1561795" cy="182880"/>
          </a:xfrm>
          <a:prstGeom prst="rect">
            <a:avLst/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30" name="Text 123"/>
          <p:cNvSpPr/>
          <p:nvPr/>
        </p:nvSpPr>
        <p:spPr>
          <a:xfrm>
            <a:off x="11143793" y="5490972"/>
            <a:ext cx="72511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NO VINCULANTE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411480" y="85953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Informativas — no inciden en el resultado global</a:t>
            </a:r>
            <a:endParaRPr lang="en-US" sz="1000" dirty="0"/>
          </a:p>
        </p:txBody>
      </p:sp>
      <p:sp>
        <p:nvSpPr>
          <p:cNvPr id="10" name="Shape 3"/>
          <p:cNvSpPr/>
          <p:nvPr/>
        </p:nvSpPr>
        <p:spPr>
          <a:xfrm>
            <a:off x="320040" y="1152144"/>
            <a:ext cx="5614416" cy="329184"/>
          </a:xfrm>
          <a:prstGeom prst="roundRect">
            <a:avLst>
              <a:gd name="adj" fmla="val 16667"/>
            </a:avLst>
          </a:prstGeom>
          <a:solidFill>
            <a:srgbClr val="42770E"/>
          </a:solidFill>
          <a:ln w="12700">
            <a:solidFill>
              <a:srgbClr val="42770E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393192" y="1152144"/>
            <a:ext cx="348093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</a:t>
            </a:r>
            <a:endParaRPr lang="en-US" sz="1300" dirty="0"/>
          </a:p>
        </p:txBody>
      </p:sp>
      <p:sp>
        <p:nvSpPr>
          <p:cNvPr id="12" name="Text 5"/>
          <p:cNvSpPr/>
          <p:nvPr/>
        </p:nvSpPr>
        <p:spPr>
          <a:xfrm>
            <a:off x="3576401" y="1152144"/>
            <a:ext cx="224576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1800" dirty="0"/>
          </a:p>
        </p:txBody>
      </p:sp>
      <p:sp>
        <p:nvSpPr>
          <p:cNvPr id="13" name="Shape 6"/>
          <p:cNvSpPr/>
          <p:nvPr/>
        </p:nvSpPr>
        <p:spPr>
          <a:xfrm>
            <a:off x="320040" y="1499616"/>
            <a:ext cx="5614416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374904" y="1499616"/>
            <a:ext cx="280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3407969" y="1499616"/>
            <a:ext cx="7298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✓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193987" y="1499616"/>
            <a:ext cx="7298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✗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4923861" y="1499616"/>
            <a:ext cx="50529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373014" y="1499616"/>
            <a:ext cx="5614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320040" y="1764792"/>
            <a:ext cx="56144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74904" y="1764792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3407969" y="1764792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193987" y="1764792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923861" y="1764792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373014" y="1764792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20040" y="2057400"/>
            <a:ext cx="5614416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74904" y="2057400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407969" y="2057400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193987" y="2057400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23861" y="2057400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373014" y="2057400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20040" y="2350008"/>
            <a:ext cx="56144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74904" y="2350008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3407969" y="2350008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193987" y="2350008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923861" y="2350008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373014" y="2350008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320040" y="2642616"/>
            <a:ext cx="5614416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374904" y="2642616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CULTURA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407969" y="2642616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4193987" y="2642616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923861" y="2642616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373014" y="2642616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320040" y="2935224"/>
            <a:ext cx="56144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74904" y="2935224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ESTANDARIZACION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407969" y="2935224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4193987" y="2935224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4923861" y="2935224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373014" y="2935224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320040" y="3227832"/>
            <a:ext cx="5614416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74904" y="3227832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E INDICADORES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3407969" y="3227832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4193987" y="3227832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4923861" y="3227832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5373014" y="3227832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320040" y="3520440"/>
            <a:ext cx="56144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374904" y="3520440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LA COMUNIDAD</a:t>
            </a:r>
            <a:endParaRPr lang="en-US" sz="1000" dirty="0"/>
          </a:p>
        </p:txBody>
      </p:sp>
      <p:sp>
        <p:nvSpPr>
          <p:cNvPr id="57" name="Text 50"/>
          <p:cNvSpPr/>
          <p:nvPr/>
        </p:nvSpPr>
        <p:spPr>
          <a:xfrm>
            <a:off x="3407969" y="3520440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1"/>
          <p:cNvSpPr/>
          <p:nvPr/>
        </p:nvSpPr>
        <p:spPr>
          <a:xfrm>
            <a:off x="4193987" y="3520440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4923861" y="3520440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0" name="Text 53"/>
          <p:cNvSpPr/>
          <p:nvPr/>
        </p:nvSpPr>
        <p:spPr>
          <a:xfrm>
            <a:off x="5373014" y="3520440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61" name="Shape 54"/>
          <p:cNvSpPr/>
          <p:nvPr/>
        </p:nvSpPr>
        <p:spPr>
          <a:xfrm>
            <a:off x="320040" y="3813048"/>
            <a:ext cx="5614416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374904" y="3813048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PROVEEDORES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3407969" y="3813048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Text 57"/>
          <p:cNvSpPr/>
          <p:nvPr/>
        </p:nvSpPr>
        <p:spPr>
          <a:xfrm>
            <a:off x="4193987" y="3813048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5" name="Text 58"/>
          <p:cNvSpPr/>
          <p:nvPr/>
        </p:nvSpPr>
        <p:spPr>
          <a:xfrm>
            <a:off x="4923861" y="3813048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6" name="Text 59"/>
          <p:cNvSpPr/>
          <p:nvPr/>
        </p:nvSpPr>
        <p:spPr>
          <a:xfrm>
            <a:off x="5373014" y="3813048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67" name="Shape 60"/>
          <p:cNvSpPr/>
          <p:nvPr/>
        </p:nvSpPr>
        <p:spPr>
          <a:xfrm>
            <a:off x="320040" y="4105656"/>
            <a:ext cx="56144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3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374904" y="4105656"/>
            <a:ext cx="2807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PLANEAMIENTO ESTRATEGICO</a:t>
            </a:r>
            <a:endParaRPr lang="en-US" sz="1000" dirty="0"/>
          </a:p>
        </p:txBody>
      </p:sp>
      <p:sp>
        <p:nvSpPr>
          <p:cNvPr id="69" name="Text 62"/>
          <p:cNvSpPr/>
          <p:nvPr/>
        </p:nvSpPr>
        <p:spPr>
          <a:xfrm>
            <a:off x="3407969" y="4105656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0" name="Text 63"/>
          <p:cNvSpPr/>
          <p:nvPr/>
        </p:nvSpPr>
        <p:spPr>
          <a:xfrm>
            <a:off x="4193987" y="4105656"/>
            <a:ext cx="729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4923861" y="4105656"/>
            <a:ext cx="505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2" name="Text 65"/>
          <p:cNvSpPr/>
          <p:nvPr/>
        </p:nvSpPr>
        <p:spPr>
          <a:xfrm>
            <a:off x="5373014" y="4105656"/>
            <a:ext cx="5614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3152"/>
            <a:ext cx="1115568" cy="7315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"/>
            <a:ext cx="2286000" cy="5669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0" y="1499616"/>
            <a:ext cx="1261872" cy="11704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6099048" cy="57607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6281928"/>
            <a:ext cx="6099048" cy="5760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" y="10972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CRÍTICOS</a:t>
            </a:r>
            <a:endParaRPr lang="en-US" sz="4000" dirty="0"/>
          </a:p>
        </p:txBody>
      </p:sp>
      <p:sp>
        <p:nvSpPr>
          <p:cNvPr id="8" name="Shape 1"/>
          <p:cNvSpPr/>
          <p:nvPr/>
        </p:nvSpPr>
        <p:spPr>
          <a:xfrm>
            <a:off x="411480" y="832104"/>
            <a:ext cx="11365992" cy="18288"/>
          </a:xfrm>
          <a:prstGeom prst="rect">
            <a:avLst/>
          </a:prstGeom>
          <a:solidFill>
            <a:srgbClr val="D1DAE6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256032" y="868680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F0FDF4"/>
          </a:solidFill>
          <a:ln w="31750">
            <a:solidFill>
              <a:srgbClr val="1D9E6F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256032" y="960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11" name="Text 4"/>
          <p:cNvSpPr/>
          <p:nvPr/>
        </p:nvSpPr>
        <p:spPr>
          <a:xfrm>
            <a:off x="256032" y="152704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12" name="Text 5"/>
          <p:cNvSpPr/>
          <p:nvPr/>
        </p:nvSpPr>
        <p:spPr>
          <a:xfrm>
            <a:off x="256032" y="232257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CUMPLEN</a:t>
            </a:r>
            <a:endParaRPr lang="en-US" sz="1100" dirty="0"/>
          </a:p>
        </p:txBody>
      </p:sp>
      <p:sp>
        <p:nvSpPr>
          <p:cNvPr id="13" name="Shape 6"/>
          <p:cNvSpPr/>
          <p:nvPr/>
        </p:nvSpPr>
        <p:spPr>
          <a:xfrm>
            <a:off x="256032" y="2761488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FEF2F2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256032" y="28529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400" dirty="0"/>
          </a:p>
        </p:txBody>
      </p:sp>
      <p:sp>
        <p:nvSpPr>
          <p:cNvPr id="15" name="Text 8"/>
          <p:cNvSpPr/>
          <p:nvPr/>
        </p:nvSpPr>
        <p:spPr>
          <a:xfrm>
            <a:off x="256032" y="341985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200" dirty="0"/>
          </a:p>
        </p:txBody>
      </p:sp>
      <p:sp>
        <p:nvSpPr>
          <p:cNvPr id="16" name="Text 9"/>
          <p:cNvSpPr/>
          <p:nvPr/>
        </p:nvSpPr>
        <p:spPr>
          <a:xfrm>
            <a:off x="256032" y="42153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INCUMPLEN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256032" y="4700016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256032" y="47457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CONDICIONALES</a:t>
            </a:r>
            <a:endParaRPr lang="en-US" sz="800" dirty="0"/>
          </a:p>
        </p:txBody>
      </p:sp>
      <p:sp>
        <p:nvSpPr>
          <p:cNvPr id="19" name="Shape 12"/>
          <p:cNvSpPr/>
          <p:nvPr/>
        </p:nvSpPr>
        <p:spPr>
          <a:xfrm>
            <a:off x="34747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4747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83515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3515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132283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32283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181051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81051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229819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29819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2785872" y="4974336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785872" y="4974336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34747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4747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83515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3515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132283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32283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181051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81051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229819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229819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2785872" y="5303520"/>
            <a:ext cx="451104" cy="274320"/>
          </a:xfrm>
          <a:prstGeom prst="roundRect">
            <a:avLst>
              <a:gd name="adj" fmla="val 13333"/>
            </a:avLst>
          </a:prstGeom>
          <a:solidFill>
            <a:srgbClr val="1D9E6F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2785872" y="5303520"/>
            <a:ext cx="45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C12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347472" y="5669280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1A6DB5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47472" y="56692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3657600" y="1627632"/>
            <a:ext cx="827532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AE6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730752" y="16276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COD.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4270248" y="16276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4965192" y="16276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BPL CRÍTICO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9765792" y="16276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0625328" y="16276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657600" y="1920240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3657600" y="1920240"/>
            <a:ext cx="54864" cy="274320"/>
          </a:xfrm>
          <a:prstGeom prst="rect">
            <a:avLst/>
          </a:prstGeom>
          <a:solidFill>
            <a:srgbClr val="19318F"/>
          </a:solidFill>
          <a:ln w="12700">
            <a:solidFill>
              <a:srgbClr val="19318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3730752" y="19202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4270248" y="192024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4965192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EMPLAZAMIENTO</a:t>
            </a:r>
            <a:endParaRPr lang="en-US" sz="1100" dirty="0"/>
          </a:p>
        </p:txBody>
      </p:sp>
      <p:sp>
        <p:nvSpPr>
          <p:cNvPr id="56" name="Text 49"/>
          <p:cNvSpPr/>
          <p:nvPr/>
        </p:nvSpPr>
        <p:spPr>
          <a:xfrm>
            <a:off x="9765792" y="1920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10652760" y="1956816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10652760" y="19568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CUMPLE</a:t>
            </a:r>
            <a:endParaRPr lang="en-US" sz="900" dirty="0"/>
          </a:p>
        </p:txBody>
      </p:sp>
      <p:sp>
        <p:nvSpPr>
          <p:cNvPr id="59" name="Shape 52"/>
          <p:cNvSpPr/>
          <p:nvPr/>
        </p:nvSpPr>
        <p:spPr>
          <a:xfrm>
            <a:off x="3657600" y="2212848"/>
            <a:ext cx="827532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3657600" y="2212848"/>
            <a:ext cx="54864" cy="274320"/>
          </a:xfrm>
          <a:prstGeom prst="rect">
            <a:avLst/>
          </a:prstGeom>
          <a:solidFill>
            <a:srgbClr val="19318F"/>
          </a:solidFill>
          <a:ln w="12700">
            <a:solidFill>
              <a:srgbClr val="19318F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3730752" y="2212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62" name="Text 55"/>
          <p:cNvSpPr/>
          <p:nvPr/>
        </p:nvSpPr>
        <p:spPr>
          <a:xfrm>
            <a:off x="4270248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</a:t>
            </a:r>
            <a:endParaRPr lang="en-US" sz="1100" dirty="0"/>
          </a:p>
        </p:txBody>
      </p:sp>
      <p:sp>
        <p:nvSpPr>
          <p:cNvPr id="63" name="Text 56"/>
          <p:cNvSpPr/>
          <p:nvPr/>
        </p:nvSpPr>
        <p:spPr>
          <a:xfrm>
            <a:off x="4965192" y="2212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EDIFICACION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9765792" y="22128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1200" dirty="0"/>
          </a:p>
        </p:txBody>
      </p:sp>
      <p:sp>
        <p:nvSpPr>
          <p:cNvPr id="65" name="Shape 58"/>
          <p:cNvSpPr/>
          <p:nvPr/>
        </p:nvSpPr>
        <p:spPr>
          <a:xfrm>
            <a:off x="10652760" y="2249424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10652760" y="224942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CUMPLE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3657600" y="2505456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3657600" y="2505456"/>
            <a:ext cx="54864" cy="274320"/>
          </a:xfrm>
          <a:prstGeom prst="rect">
            <a:avLst/>
          </a:prstGeom>
          <a:solidFill>
            <a:srgbClr val="19318F"/>
          </a:solidFill>
          <a:ln w="12700">
            <a:solidFill>
              <a:srgbClr val="19318F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3730752" y="25054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70" name="Text 63"/>
          <p:cNvSpPr/>
          <p:nvPr/>
        </p:nvSpPr>
        <p:spPr>
          <a:xfrm>
            <a:off x="4270248" y="25054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</a:t>
            </a:r>
            <a:endParaRPr lang="en-US" sz="1100" dirty="0"/>
          </a:p>
        </p:txBody>
      </p:sp>
      <p:sp>
        <p:nvSpPr>
          <p:cNvPr id="71" name="Text 64"/>
          <p:cNvSpPr/>
          <p:nvPr/>
        </p:nvSpPr>
        <p:spPr>
          <a:xfrm>
            <a:off x="4965192" y="2505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72" name="Text 65"/>
          <p:cNvSpPr/>
          <p:nvPr/>
        </p:nvSpPr>
        <p:spPr>
          <a:xfrm>
            <a:off x="9765792" y="25054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200" dirty="0"/>
          </a:p>
        </p:txBody>
      </p:sp>
      <p:sp>
        <p:nvSpPr>
          <p:cNvPr id="73" name="Shape 66"/>
          <p:cNvSpPr/>
          <p:nvPr/>
        </p:nvSpPr>
        <p:spPr>
          <a:xfrm>
            <a:off x="10652760" y="2542032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10652760" y="25420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75" name="Shape 68"/>
          <p:cNvSpPr/>
          <p:nvPr/>
        </p:nvSpPr>
        <p:spPr>
          <a:xfrm>
            <a:off x="3657600" y="2798064"/>
            <a:ext cx="82753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3657600" y="2798064"/>
            <a:ext cx="54864" cy="274320"/>
          </a:xfrm>
          <a:prstGeom prst="rect">
            <a:avLst/>
          </a:prstGeom>
          <a:solidFill>
            <a:srgbClr val="19318F"/>
          </a:solidFill>
          <a:ln w="12700">
            <a:solidFill>
              <a:srgbClr val="19318F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3730752" y="27980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78" name="Text 71"/>
          <p:cNvSpPr/>
          <p:nvPr/>
        </p:nvSpPr>
        <p:spPr>
          <a:xfrm>
            <a:off x="4270248" y="279806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</a:t>
            </a:r>
            <a:endParaRPr lang="en-US" sz="1100" dirty="0"/>
          </a:p>
        </p:txBody>
      </p:sp>
      <p:sp>
        <p:nvSpPr>
          <p:cNvPr id="79" name="Text 72"/>
          <p:cNvSpPr/>
          <p:nvPr/>
        </p:nvSpPr>
        <p:spPr>
          <a:xfrm>
            <a:off x="4965192" y="2798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80" name="Text 73"/>
          <p:cNvSpPr/>
          <p:nvPr/>
        </p:nvSpPr>
        <p:spPr>
          <a:xfrm>
            <a:off x="9765792" y="27980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200" dirty="0"/>
          </a:p>
        </p:txBody>
      </p:sp>
      <p:sp>
        <p:nvSpPr>
          <p:cNvPr id="81" name="Shape 74"/>
          <p:cNvSpPr/>
          <p:nvPr/>
        </p:nvSpPr>
        <p:spPr>
          <a:xfrm>
            <a:off x="10652760" y="2834640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82" name="Text 75"/>
          <p:cNvSpPr/>
          <p:nvPr/>
        </p:nvSpPr>
        <p:spPr>
          <a:xfrm>
            <a:off x="10652760" y="28346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3657600" y="3090672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3657600" y="3090672"/>
            <a:ext cx="54864" cy="274320"/>
          </a:xfrm>
          <a:prstGeom prst="rect">
            <a:avLst/>
          </a:prstGeom>
          <a:solidFill>
            <a:srgbClr val="87AC20"/>
          </a:solidFill>
          <a:ln w="12700">
            <a:solidFill>
              <a:srgbClr val="87AC20"/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3730752" y="30906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86" name="Text 79"/>
          <p:cNvSpPr/>
          <p:nvPr/>
        </p:nvSpPr>
        <p:spPr>
          <a:xfrm>
            <a:off x="4270248" y="309067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A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</a:t>
            </a:r>
            <a:endParaRPr lang="en-US" sz="1100" dirty="0"/>
          </a:p>
        </p:txBody>
      </p:sp>
      <p:sp>
        <p:nvSpPr>
          <p:cNvPr id="87" name="Text 80"/>
          <p:cNvSpPr/>
          <p:nvPr/>
        </p:nvSpPr>
        <p:spPr>
          <a:xfrm>
            <a:off x="4965192" y="3090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ABASTECIMIENTO Y RECEPCIÓN</a:t>
            </a:r>
            <a:endParaRPr lang="en-US" sz="1100" dirty="0"/>
          </a:p>
        </p:txBody>
      </p:sp>
      <p:sp>
        <p:nvSpPr>
          <p:cNvPr id="88" name="Text 81"/>
          <p:cNvSpPr/>
          <p:nvPr/>
        </p:nvSpPr>
        <p:spPr>
          <a:xfrm>
            <a:off x="9765792" y="3090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200" dirty="0"/>
          </a:p>
        </p:txBody>
      </p:sp>
      <p:sp>
        <p:nvSpPr>
          <p:cNvPr id="89" name="Shape 82"/>
          <p:cNvSpPr/>
          <p:nvPr/>
        </p:nvSpPr>
        <p:spPr>
          <a:xfrm>
            <a:off x="10652760" y="3127248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Text 83"/>
          <p:cNvSpPr/>
          <p:nvPr/>
        </p:nvSpPr>
        <p:spPr>
          <a:xfrm>
            <a:off x="10652760" y="31272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CUMPLE</a:t>
            </a:r>
            <a:endParaRPr lang="en-US" sz="900" dirty="0"/>
          </a:p>
        </p:txBody>
      </p:sp>
      <p:sp>
        <p:nvSpPr>
          <p:cNvPr id="91" name="Shape 84"/>
          <p:cNvSpPr/>
          <p:nvPr/>
        </p:nvSpPr>
        <p:spPr>
          <a:xfrm>
            <a:off x="3657600" y="3383280"/>
            <a:ext cx="82753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3657600" y="3383280"/>
            <a:ext cx="54864" cy="274320"/>
          </a:xfrm>
          <a:prstGeom prst="rect">
            <a:avLst/>
          </a:prstGeom>
          <a:solidFill>
            <a:srgbClr val="87AC20"/>
          </a:solidFill>
          <a:ln w="12700">
            <a:solidFill>
              <a:srgbClr val="87AC20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3730752" y="3383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100" dirty="0"/>
          </a:p>
        </p:txBody>
      </p:sp>
      <p:sp>
        <p:nvSpPr>
          <p:cNvPr id="94" name="Text 87"/>
          <p:cNvSpPr/>
          <p:nvPr/>
        </p:nvSpPr>
        <p:spPr>
          <a:xfrm>
            <a:off x="4270248" y="338328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7A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</a:t>
            </a:r>
            <a:endParaRPr lang="en-US" sz="1100" dirty="0"/>
          </a:p>
        </p:txBody>
      </p:sp>
      <p:sp>
        <p:nvSpPr>
          <p:cNvPr id="95" name="Text 88"/>
          <p:cNvSpPr/>
          <p:nvPr/>
        </p:nvSpPr>
        <p:spPr>
          <a:xfrm>
            <a:off x="4965192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 INVENTARIOS</a:t>
            </a:r>
            <a:endParaRPr lang="en-US" sz="1100" dirty="0"/>
          </a:p>
        </p:txBody>
      </p:sp>
      <p:sp>
        <p:nvSpPr>
          <p:cNvPr id="96" name="Text 89"/>
          <p:cNvSpPr/>
          <p:nvPr/>
        </p:nvSpPr>
        <p:spPr>
          <a:xfrm>
            <a:off x="9765792" y="3383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200" dirty="0"/>
          </a:p>
        </p:txBody>
      </p:sp>
      <p:sp>
        <p:nvSpPr>
          <p:cNvPr id="97" name="Shape 90"/>
          <p:cNvSpPr/>
          <p:nvPr/>
        </p:nvSpPr>
        <p:spPr>
          <a:xfrm>
            <a:off x="10652760" y="3419856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98" name="Text 91"/>
          <p:cNvSpPr/>
          <p:nvPr/>
        </p:nvSpPr>
        <p:spPr>
          <a:xfrm>
            <a:off x="10652760" y="34198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99" name="Shape 92"/>
          <p:cNvSpPr/>
          <p:nvPr/>
        </p:nvSpPr>
        <p:spPr>
          <a:xfrm>
            <a:off x="3657600" y="3675888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3657600" y="3675888"/>
            <a:ext cx="54864" cy="274320"/>
          </a:xfrm>
          <a:prstGeom prst="rect">
            <a:avLst/>
          </a:prstGeom>
          <a:solidFill>
            <a:srgbClr val="BB17E8"/>
          </a:solidFill>
          <a:ln w="12700">
            <a:solidFill>
              <a:srgbClr val="BB17E8"/>
            </a:solidFill>
            <a:prstDash val="solid"/>
          </a:ln>
        </p:spPr>
      </p:sp>
      <p:sp>
        <p:nvSpPr>
          <p:cNvPr id="101" name="Text 94"/>
          <p:cNvSpPr/>
          <p:nvPr/>
        </p:nvSpPr>
        <p:spPr>
          <a:xfrm>
            <a:off x="3730752" y="36758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100" dirty="0"/>
          </a:p>
        </p:txBody>
      </p:sp>
      <p:sp>
        <p:nvSpPr>
          <p:cNvPr id="102" name="Text 95"/>
          <p:cNvSpPr/>
          <p:nvPr/>
        </p:nvSpPr>
        <p:spPr>
          <a:xfrm>
            <a:off x="4270248" y="367588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1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100" dirty="0"/>
          </a:p>
        </p:txBody>
      </p:sp>
      <p:sp>
        <p:nvSpPr>
          <p:cNvPr id="103" name="Text 96"/>
          <p:cNvSpPr/>
          <p:nvPr/>
        </p:nvSpPr>
        <p:spPr>
          <a:xfrm>
            <a:off x="4965192" y="3675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100" dirty="0"/>
          </a:p>
        </p:txBody>
      </p:sp>
      <p:sp>
        <p:nvSpPr>
          <p:cNvPr id="104" name="Text 97"/>
          <p:cNvSpPr/>
          <p:nvPr/>
        </p:nvSpPr>
        <p:spPr>
          <a:xfrm>
            <a:off x="9765792" y="3675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200" dirty="0"/>
          </a:p>
        </p:txBody>
      </p:sp>
      <p:sp>
        <p:nvSpPr>
          <p:cNvPr id="105" name="Shape 98"/>
          <p:cNvSpPr/>
          <p:nvPr/>
        </p:nvSpPr>
        <p:spPr>
          <a:xfrm>
            <a:off x="10652760" y="3712464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6" name="Text 99"/>
          <p:cNvSpPr/>
          <p:nvPr/>
        </p:nvSpPr>
        <p:spPr>
          <a:xfrm>
            <a:off x="10652760" y="37124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CUMPLE</a:t>
            </a:r>
            <a:endParaRPr lang="en-US" sz="900" dirty="0"/>
          </a:p>
        </p:txBody>
      </p:sp>
      <p:sp>
        <p:nvSpPr>
          <p:cNvPr id="107" name="Shape 100"/>
          <p:cNvSpPr/>
          <p:nvPr/>
        </p:nvSpPr>
        <p:spPr>
          <a:xfrm>
            <a:off x="3657600" y="3968496"/>
            <a:ext cx="82753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3657600" y="3968496"/>
            <a:ext cx="54864" cy="274320"/>
          </a:xfrm>
          <a:prstGeom prst="rect">
            <a:avLst/>
          </a:prstGeom>
          <a:solidFill>
            <a:srgbClr val="BB17E8"/>
          </a:solidFill>
          <a:ln w="12700">
            <a:solidFill>
              <a:srgbClr val="BB17E8"/>
            </a:solidFill>
            <a:prstDash val="solid"/>
          </a:ln>
        </p:spPr>
      </p:sp>
      <p:sp>
        <p:nvSpPr>
          <p:cNvPr id="109" name="Text 102"/>
          <p:cNvSpPr/>
          <p:nvPr/>
        </p:nvSpPr>
        <p:spPr>
          <a:xfrm>
            <a:off x="3730752" y="39684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100" dirty="0"/>
          </a:p>
        </p:txBody>
      </p:sp>
      <p:sp>
        <p:nvSpPr>
          <p:cNvPr id="110" name="Text 103"/>
          <p:cNvSpPr/>
          <p:nvPr/>
        </p:nvSpPr>
        <p:spPr>
          <a:xfrm>
            <a:off x="4270248" y="396849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1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100" dirty="0"/>
          </a:p>
        </p:txBody>
      </p:sp>
      <p:sp>
        <p:nvSpPr>
          <p:cNvPr id="111" name="Text 104"/>
          <p:cNvSpPr/>
          <p:nvPr/>
        </p:nvSpPr>
        <p:spPr>
          <a:xfrm>
            <a:off x="4965192" y="39684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 Y MEJORA</a:t>
            </a:r>
            <a:endParaRPr lang="en-US" sz="1100" dirty="0"/>
          </a:p>
        </p:txBody>
      </p:sp>
      <p:sp>
        <p:nvSpPr>
          <p:cNvPr id="112" name="Text 105"/>
          <p:cNvSpPr/>
          <p:nvPr/>
        </p:nvSpPr>
        <p:spPr>
          <a:xfrm>
            <a:off x="9765792" y="39684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200" dirty="0"/>
          </a:p>
        </p:txBody>
      </p:sp>
      <p:sp>
        <p:nvSpPr>
          <p:cNvPr id="113" name="Shape 106"/>
          <p:cNvSpPr/>
          <p:nvPr/>
        </p:nvSpPr>
        <p:spPr>
          <a:xfrm>
            <a:off x="10652760" y="4005072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14" name="Text 107"/>
          <p:cNvSpPr/>
          <p:nvPr/>
        </p:nvSpPr>
        <p:spPr>
          <a:xfrm>
            <a:off x="10652760" y="40050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115" name="Shape 108"/>
          <p:cNvSpPr/>
          <p:nvPr/>
        </p:nvSpPr>
        <p:spPr>
          <a:xfrm>
            <a:off x="3657600" y="4261104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3657600" y="4261104"/>
            <a:ext cx="54864" cy="274320"/>
          </a:xfrm>
          <a:prstGeom prst="rect">
            <a:avLst/>
          </a:prstGeom>
          <a:solidFill>
            <a:srgbClr val="E9EC18"/>
          </a:solidFill>
          <a:ln w="12700">
            <a:solidFill>
              <a:srgbClr val="E9EC18"/>
            </a:solidFill>
            <a:prstDash val="solid"/>
          </a:ln>
        </p:spPr>
      </p:sp>
      <p:sp>
        <p:nvSpPr>
          <p:cNvPr id="117" name="Text 110"/>
          <p:cNvSpPr/>
          <p:nvPr/>
        </p:nvSpPr>
        <p:spPr>
          <a:xfrm>
            <a:off x="3730752" y="42611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100" dirty="0"/>
          </a:p>
        </p:txBody>
      </p:sp>
      <p:sp>
        <p:nvSpPr>
          <p:cNvPr id="118" name="Text 111"/>
          <p:cNvSpPr/>
          <p:nvPr/>
        </p:nvSpPr>
        <p:spPr>
          <a:xfrm>
            <a:off x="4270248" y="4261104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100" dirty="0"/>
          </a:p>
        </p:txBody>
      </p:sp>
      <p:sp>
        <p:nvSpPr>
          <p:cNvPr id="119" name="Text 112"/>
          <p:cNvSpPr/>
          <p:nvPr/>
        </p:nvSpPr>
        <p:spPr>
          <a:xfrm>
            <a:off x="4965192" y="42611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MANIPULEO</a:t>
            </a:r>
            <a:endParaRPr lang="en-US" sz="1100" dirty="0"/>
          </a:p>
        </p:txBody>
      </p:sp>
      <p:sp>
        <p:nvSpPr>
          <p:cNvPr id="120" name="Text 113"/>
          <p:cNvSpPr/>
          <p:nvPr/>
        </p:nvSpPr>
        <p:spPr>
          <a:xfrm>
            <a:off x="9765792" y="42611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200" dirty="0"/>
          </a:p>
        </p:txBody>
      </p:sp>
      <p:sp>
        <p:nvSpPr>
          <p:cNvPr id="121" name="Shape 114"/>
          <p:cNvSpPr/>
          <p:nvPr/>
        </p:nvSpPr>
        <p:spPr>
          <a:xfrm>
            <a:off x="10652760" y="4297680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22" name="Text 115"/>
          <p:cNvSpPr/>
          <p:nvPr/>
        </p:nvSpPr>
        <p:spPr>
          <a:xfrm>
            <a:off x="10652760" y="429768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123" name="Shape 116"/>
          <p:cNvSpPr/>
          <p:nvPr/>
        </p:nvSpPr>
        <p:spPr>
          <a:xfrm>
            <a:off x="3657600" y="4553712"/>
            <a:ext cx="82753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3657600" y="4553712"/>
            <a:ext cx="54864" cy="274320"/>
          </a:xfrm>
          <a:prstGeom prst="rect">
            <a:avLst/>
          </a:prstGeom>
          <a:solidFill>
            <a:srgbClr val="E9EC18"/>
          </a:solidFill>
          <a:ln w="12700">
            <a:solidFill>
              <a:srgbClr val="E9EC18"/>
            </a:solidFill>
            <a:prstDash val="solid"/>
          </a:ln>
        </p:spPr>
      </p:sp>
      <p:sp>
        <p:nvSpPr>
          <p:cNvPr id="125" name="Text 118"/>
          <p:cNvSpPr/>
          <p:nvPr/>
        </p:nvSpPr>
        <p:spPr>
          <a:xfrm>
            <a:off x="3730752" y="4553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1100" dirty="0"/>
          </a:p>
        </p:txBody>
      </p:sp>
      <p:sp>
        <p:nvSpPr>
          <p:cNvPr id="126" name="Text 119"/>
          <p:cNvSpPr/>
          <p:nvPr/>
        </p:nvSpPr>
        <p:spPr>
          <a:xfrm>
            <a:off x="4270248" y="455371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100" dirty="0"/>
          </a:p>
        </p:txBody>
      </p:sp>
      <p:sp>
        <p:nvSpPr>
          <p:cNvPr id="127" name="Text 120"/>
          <p:cNvSpPr/>
          <p:nvPr/>
        </p:nvSpPr>
        <p:spPr>
          <a:xfrm>
            <a:off x="4965192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Y/O DEVOLUCIONES</a:t>
            </a:r>
            <a:endParaRPr lang="en-US" sz="1100" dirty="0"/>
          </a:p>
        </p:txBody>
      </p:sp>
      <p:sp>
        <p:nvSpPr>
          <p:cNvPr id="128" name="Text 121"/>
          <p:cNvSpPr/>
          <p:nvPr/>
        </p:nvSpPr>
        <p:spPr>
          <a:xfrm>
            <a:off x="9765792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200" dirty="0"/>
          </a:p>
        </p:txBody>
      </p:sp>
      <p:sp>
        <p:nvSpPr>
          <p:cNvPr id="129" name="Shape 122"/>
          <p:cNvSpPr/>
          <p:nvPr/>
        </p:nvSpPr>
        <p:spPr>
          <a:xfrm>
            <a:off x="10652760" y="4590288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30" name="Text 123"/>
          <p:cNvSpPr/>
          <p:nvPr/>
        </p:nvSpPr>
        <p:spPr>
          <a:xfrm>
            <a:off x="10652760" y="459028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131" name="Shape 124"/>
          <p:cNvSpPr/>
          <p:nvPr/>
        </p:nvSpPr>
        <p:spPr>
          <a:xfrm>
            <a:off x="3657600" y="4846320"/>
            <a:ext cx="8275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3657600" y="4846320"/>
            <a:ext cx="54864" cy="274320"/>
          </a:xfrm>
          <a:prstGeom prst="rect">
            <a:avLst/>
          </a:prstGeom>
          <a:solidFill>
            <a:srgbClr val="E9EC18"/>
          </a:solidFill>
          <a:ln w="12700">
            <a:solidFill>
              <a:srgbClr val="E9EC18"/>
            </a:solidFill>
            <a:prstDash val="solid"/>
          </a:ln>
        </p:spPr>
      </p:sp>
      <p:sp>
        <p:nvSpPr>
          <p:cNvPr id="133" name="Text 126"/>
          <p:cNvSpPr/>
          <p:nvPr/>
        </p:nvSpPr>
        <p:spPr>
          <a:xfrm>
            <a:off x="3730752" y="48463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</a:t>
            </a:r>
            <a:endParaRPr lang="en-US" sz="1100" dirty="0"/>
          </a:p>
        </p:txBody>
      </p:sp>
      <p:sp>
        <p:nvSpPr>
          <p:cNvPr id="134" name="Text 127"/>
          <p:cNvSpPr/>
          <p:nvPr/>
        </p:nvSpPr>
        <p:spPr>
          <a:xfrm>
            <a:off x="4270248" y="484632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100" dirty="0"/>
          </a:p>
        </p:txBody>
      </p:sp>
      <p:sp>
        <p:nvSpPr>
          <p:cNvPr id="135" name="Text 128"/>
          <p:cNvSpPr/>
          <p:nvPr/>
        </p:nvSpPr>
        <p:spPr>
          <a:xfrm>
            <a:off x="4965192" y="4846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Y/O DEVOLUCIONES</a:t>
            </a:r>
            <a:endParaRPr lang="en-US" sz="1100" dirty="0"/>
          </a:p>
        </p:txBody>
      </p:sp>
      <p:sp>
        <p:nvSpPr>
          <p:cNvPr id="136" name="Text 129"/>
          <p:cNvSpPr/>
          <p:nvPr/>
        </p:nvSpPr>
        <p:spPr>
          <a:xfrm>
            <a:off x="9765792" y="4846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200" dirty="0"/>
          </a:p>
        </p:txBody>
      </p:sp>
      <p:sp>
        <p:nvSpPr>
          <p:cNvPr id="137" name="Shape 130"/>
          <p:cNvSpPr/>
          <p:nvPr/>
        </p:nvSpPr>
        <p:spPr>
          <a:xfrm>
            <a:off x="10652760" y="4882896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38" name="Text 131"/>
          <p:cNvSpPr/>
          <p:nvPr/>
        </p:nvSpPr>
        <p:spPr>
          <a:xfrm>
            <a:off x="10652760" y="488289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  <p:sp>
        <p:nvSpPr>
          <p:cNvPr id="139" name="Shape 132"/>
          <p:cNvSpPr/>
          <p:nvPr/>
        </p:nvSpPr>
        <p:spPr>
          <a:xfrm>
            <a:off x="3657600" y="5138928"/>
            <a:ext cx="82753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40" name="Shape 133"/>
          <p:cNvSpPr/>
          <p:nvPr/>
        </p:nvSpPr>
        <p:spPr>
          <a:xfrm>
            <a:off x="3657600" y="5138928"/>
            <a:ext cx="54864" cy="274320"/>
          </a:xfrm>
          <a:prstGeom prst="rect">
            <a:avLst/>
          </a:prstGeom>
          <a:solidFill>
            <a:srgbClr val="E9EC18"/>
          </a:solidFill>
          <a:ln w="12700">
            <a:solidFill>
              <a:srgbClr val="E9EC18"/>
            </a:solidFill>
            <a:prstDash val="solid"/>
          </a:ln>
        </p:spPr>
      </p:sp>
      <p:sp>
        <p:nvSpPr>
          <p:cNvPr id="141" name="Text 134"/>
          <p:cNvSpPr/>
          <p:nvPr/>
        </p:nvSpPr>
        <p:spPr>
          <a:xfrm>
            <a:off x="3730752" y="51389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C12</a:t>
            </a:r>
            <a:endParaRPr lang="en-US" sz="1100" dirty="0"/>
          </a:p>
        </p:txBody>
      </p:sp>
      <p:sp>
        <p:nvSpPr>
          <p:cNvPr id="142" name="Text 135"/>
          <p:cNvSpPr/>
          <p:nvPr/>
        </p:nvSpPr>
        <p:spPr>
          <a:xfrm>
            <a:off x="4270248" y="513892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E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100" dirty="0"/>
          </a:p>
        </p:txBody>
      </p:sp>
      <p:sp>
        <p:nvSpPr>
          <p:cNvPr id="143" name="Text 136"/>
          <p:cNvSpPr/>
          <p:nvPr/>
        </p:nvSpPr>
        <p:spPr>
          <a:xfrm>
            <a:off x="4965192" y="51389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INTEGRADO DE PLAGAS</a:t>
            </a:r>
            <a:endParaRPr lang="en-US" sz="1100" dirty="0"/>
          </a:p>
        </p:txBody>
      </p:sp>
      <p:sp>
        <p:nvSpPr>
          <p:cNvPr id="144" name="Text 137"/>
          <p:cNvSpPr/>
          <p:nvPr/>
        </p:nvSpPr>
        <p:spPr>
          <a:xfrm>
            <a:off x="9765792" y="5138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145" name="Shape 138"/>
          <p:cNvSpPr/>
          <p:nvPr/>
        </p:nvSpPr>
        <p:spPr>
          <a:xfrm>
            <a:off x="10652760" y="5175504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D9E6F"/>
            </a:solidFill>
            <a:prstDash val="solid"/>
          </a:ln>
        </p:spPr>
      </p:sp>
      <p:sp>
        <p:nvSpPr>
          <p:cNvPr id="146" name="Text 139"/>
          <p:cNvSpPr/>
          <p:nvPr/>
        </p:nvSpPr>
        <p:spPr>
          <a:xfrm>
            <a:off x="10652760" y="517550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CUMPLE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9184" y="-329184"/>
            <a:ext cx="2715768" cy="192024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192024"/>
            <a:ext cx="2359152" cy="5852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160" y="1499616"/>
            <a:ext cx="1170432" cy="107899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3776" y="1728216"/>
            <a:ext cx="1261872" cy="11704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2615184"/>
            <a:ext cx="1883664" cy="18288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98648" y="1755648"/>
            <a:ext cx="6784848" cy="3044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PARTICIPACIÓN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 EL EQUIPO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JORNADA!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2026-06-02T01:51:19Z</dcterms:created>
  <dcterms:modified xsi:type="dcterms:W3CDTF">2026-06-02T01:51:19Z</dcterms:modified>
</cp:coreProperties>
</file>